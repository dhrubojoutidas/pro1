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94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E3230-034E-42EE-9DCD-39A0DB92841C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4D0AF-41EA-4EA3-95A4-8D44ED5181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187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F4D0AF-41EA-4EA3-95A4-8D44ED51816F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1230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735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990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136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49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143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138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048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94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380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969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1434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209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597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3043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63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73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FA148-63F6-4BC7-9365-ACFA5D31BB0F}" type="datetimeFigureOut">
              <a:rPr lang="en-AU" smtClean="0"/>
              <a:t>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D57813-BFF5-4E50-A579-1060B42E5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21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  <p:sldLayoutId id="2147484111" r:id="rId13"/>
    <p:sldLayoutId id="2147484112" r:id="rId14"/>
    <p:sldLayoutId id="2147484113" r:id="rId15"/>
    <p:sldLayoutId id="214748411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1FE2-EA7F-B5B8-E86A-D972A0E80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487680"/>
            <a:ext cx="9265920" cy="1189061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AU" b="1" dirty="0"/>
              <a:t>Controller Area Network</a:t>
            </a:r>
            <a:br>
              <a:rPr lang="en-AU" sz="6100" b="1" dirty="0"/>
            </a:br>
            <a:endParaRPr lang="en-AU" sz="61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DF62C-1261-8B7A-1868-71482BE20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7920" y="4897120"/>
            <a:ext cx="5974080" cy="1875603"/>
          </a:xfrm>
        </p:spPr>
        <p:txBody>
          <a:bodyPr anchor="ctr">
            <a:noAutofit/>
          </a:bodyPr>
          <a:lstStyle/>
          <a:p>
            <a:pPr algn="r"/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highlight>
                  <a:srgbClr val="8000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Name: </a:t>
            </a:r>
            <a:r>
              <a:rPr lang="en-AU" sz="2800" b="1" dirty="0" err="1">
                <a:solidFill>
                  <a:schemeClr val="tx1">
                    <a:lumMod val="95000"/>
                  </a:schemeClr>
                </a:solidFill>
                <a:highlight>
                  <a:srgbClr val="8000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Dhrubo</a:t>
            </a:r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highlight>
                  <a:srgbClr val="8000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AU" sz="2800" b="1" dirty="0" err="1">
                <a:solidFill>
                  <a:schemeClr val="tx1">
                    <a:lumMod val="95000"/>
                  </a:schemeClr>
                </a:solidFill>
                <a:highlight>
                  <a:srgbClr val="8000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Jouti</a:t>
            </a:r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highlight>
                  <a:srgbClr val="8000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Das </a:t>
            </a:r>
            <a:r>
              <a:rPr lang="en-AU" sz="2800" b="1" dirty="0" err="1">
                <a:solidFill>
                  <a:schemeClr val="tx1">
                    <a:lumMod val="95000"/>
                  </a:schemeClr>
                </a:solidFill>
                <a:highlight>
                  <a:srgbClr val="8000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Troyee</a:t>
            </a:r>
            <a:endParaRPr lang="en-AU" sz="2800" b="1" dirty="0">
              <a:solidFill>
                <a:schemeClr val="tx1">
                  <a:lumMod val="95000"/>
                </a:schemeClr>
              </a:solidFill>
              <a:highlight>
                <a:srgbClr val="800000"/>
              </a:highligh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r"/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highlight>
                  <a:srgbClr val="8000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Student_ID:22663281</a:t>
            </a:r>
          </a:p>
          <a:p>
            <a:pPr algn="r"/>
            <a:endParaRPr lang="en-AU" sz="2800" b="1" dirty="0">
              <a:solidFill>
                <a:schemeClr val="tx1">
                  <a:lumMod val="95000"/>
                </a:schemeClr>
              </a:solidFill>
              <a:highlight>
                <a:srgbClr val="800000"/>
              </a:highligh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C6D69-3D36-6A8F-BA89-9BDD4074A827}"/>
              </a:ext>
            </a:extLst>
          </p:cNvPr>
          <p:cNvSpPr txBox="1"/>
          <p:nvPr/>
        </p:nvSpPr>
        <p:spPr>
          <a:xfrm>
            <a:off x="4480560" y="3108960"/>
            <a:ext cx="4602480" cy="94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9D33B28-ABE7-3059-B1F6-9A1BC2B82D6E}"/>
              </a:ext>
            </a:extLst>
          </p:cNvPr>
          <p:cNvSpPr/>
          <p:nvPr/>
        </p:nvSpPr>
        <p:spPr>
          <a:xfrm>
            <a:off x="4765040" y="1361440"/>
            <a:ext cx="2611120" cy="1056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E9436-1677-D57A-351F-1E36E994F7CA}"/>
              </a:ext>
            </a:extLst>
          </p:cNvPr>
          <p:cNvSpPr txBox="1"/>
          <p:nvPr/>
        </p:nvSpPr>
        <p:spPr>
          <a:xfrm>
            <a:off x="3647440" y="2782669"/>
            <a:ext cx="543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Priority and Contention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088690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00D88-CF8C-1BEC-DDBE-2B2D06F3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C6FC-2133-0A59-3DAE-E5D1BA410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362" y="324927"/>
            <a:ext cx="3643426" cy="61099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200" b="1" i="0" kern="1200" cap="all" dirty="0">
                <a:solidFill>
                  <a:schemeClr val="tx1">
                    <a:lumMod val="95000"/>
                  </a:schemeClr>
                </a:solidFill>
                <a:effectLst/>
                <a:latin typeface="+mj-lt"/>
                <a:ea typeface="+mj-ea"/>
                <a:cs typeface="+mj-cs"/>
              </a:rPr>
              <a:t>CAN  key Aspects </a:t>
            </a:r>
            <a:br>
              <a:rPr lang="en-US" sz="3200" b="1" i="0" kern="1200" cap="all" dirty="0">
                <a:solidFill>
                  <a:schemeClr val="tx1">
                    <a:lumMod val="95000"/>
                  </a:schemeClr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3200" b="1" i="0" kern="1200" cap="all" dirty="0">
                <a:solidFill>
                  <a:schemeClr val="tx1">
                    <a:lumMod val="95000"/>
                  </a:schemeClr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200" b="1" i="0" kern="1200" cap="all" dirty="0">
              <a:solidFill>
                <a:schemeClr val="tx1">
                  <a:lumMod val="9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9D021-EE53-8E3E-40C2-528550EAD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7873" y="12954"/>
            <a:ext cx="5454127" cy="65492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dirty="0"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What is CAN?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Multi-master bus system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Devices (nodes) can start communication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was it developed?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"/>
                <a:cs typeface="Arial"/>
              </a:rPr>
              <a:t>By Bosch in the 1980s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"/>
                <a:cs typeface="Arial"/>
              </a:rPr>
              <a:t>industry standard in vehicles</a:t>
            </a:r>
            <a:endParaRPr lang="en-US" sz="2000" b="1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Used for :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"/>
                <a:cs typeface="Arial"/>
              </a:rPr>
              <a:t>Airbag development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"/>
                <a:cs typeface="Arial"/>
              </a:rPr>
              <a:t>Engine control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"/>
                <a:cs typeface="Arial"/>
              </a:rPr>
              <a:t>abs braking  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Importance:</a:t>
            </a:r>
          </a:p>
          <a:p>
            <a:r>
              <a:rPr lang="en-US" sz="2000" dirty="0">
                <a:ea typeface="+mj-lt"/>
                <a:cs typeface="+mj-lt"/>
              </a:rPr>
              <a:t>offers seamless device-to-device connection, particularly when sending several messages at once.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dirty="0">
              <a:latin typeface="Aptos Display" panose="020B0004020202020204" pitchFamily="34" charset="0"/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DE1286-279E-1FAA-9763-51A4E2C1518A}"/>
              </a:ext>
            </a:extLst>
          </p:cNvPr>
          <p:cNvSpPr txBox="1"/>
          <p:nvPr/>
        </p:nvSpPr>
        <p:spPr>
          <a:xfrm>
            <a:off x="1469362" y="1171710"/>
            <a:ext cx="364342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Today’s Focus:</a:t>
            </a:r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Aptos Display" panose="020B0004020202020204" pitchFamily="34" charset="0"/>
              </a:rPr>
              <a:t>How </a:t>
            </a:r>
            <a:r>
              <a:rPr lang="en-US" sz="3200" b="1" dirty="0">
                <a:latin typeface="Aptos Display" panose="020B0004020202020204" pitchFamily="34" charset="0"/>
              </a:rPr>
              <a:t>CAN</a:t>
            </a:r>
            <a:r>
              <a:rPr lang="en-US" sz="2400" b="1" dirty="0">
                <a:latin typeface="Aptos Display" panose="020B0004020202020204" pitchFamily="34" charset="0"/>
              </a:rPr>
              <a:t> </a:t>
            </a:r>
            <a:r>
              <a:rPr lang="en-US" sz="2800" dirty="0">
                <a:latin typeface="Aptos Display" panose="020B0004020202020204" pitchFamily="34" charset="0"/>
              </a:rPr>
              <a:t>handles priority and contention?</a:t>
            </a:r>
          </a:p>
        </p:txBody>
      </p:sp>
      <p:pic>
        <p:nvPicPr>
          <p:cNvPr id="5" name="Graphic 4" descr="Questions with solid fill">
            <a:extLst>
              <a:ext uri="{FF2B5EF4-FFF2-40B4-BE49-F238E27FC236}">
                <a16:creationId xmlns:a16="http://schemas.microsoft.com/office/drawing/2014/main" id="{88E8B401-D269-BAE9-D049-6DFF7E650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3791" y="3261598"/>
            <a:ext cx="3286684" cy="172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9116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B65C-4C83-EABA-CCC1-DDC790F7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61B6-0BA2-BCDA-64FC-E6A062251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936" y="694945"/>
            <a:ext cx="9656064" cy="5617624"/>
          </a:xfrm>
        </p:spPr>
        <p:txBody>
          <a:bodyPr>
            <a:normAutofit/>
          </a:bodyPr>
          <a:lstStyle/>
          <a:p>
            <a:pPr algn="l"/>
            <a:br>
              <a:rPr lang="en-AU" b="1" dirty="0"/>
            </a:br>
            <a:br>
              <a:rPr lang="en-AU" b="1" dirty="0"/>
            </a:br>
            <a:endParaRPr lang="en-AU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D8563CF-8BA4-15E0-2BAA-806FF89B1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079" y="1119918"/>
            <a:ext cx="9620922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dirty="0">
                <a:latin typeface="Arial" panose="020B0604020202020204" pitchFamily="34" charset="0"/>
              </a:rPr>
              <a:t>What  is PRIORITY in CAN?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200150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the CAN protocol, </a:t>
            </a:r>
            <a:r>
              <a:rPr lang="en-US" altLang="en-US" sz="2000" dirty="0">
                <a:latin typeface="Arial" panose="020B0604020202020204" pitchFamily="34" charset="0"/>
              </a:rPr>
              <a:t>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 message has 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unique identifier.</a:t>
            </a:r>
          </a:p>
          <a:p>
            <a:pPr marL="1200150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200150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identifier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often a binary or hexadecimal number.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 you know ???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numerical value of  a </a:t>
            </a:r>
            <a:r>
              <a:rPr lang="en-US" altLang="en-US" sz="2000" b="1" dirty="0">
                <a:latin typeface="Arial" panose="020B0604020202020204" pitchFamily="34" charset="0"/>
              </a:rPr>
              <a:t>Can message 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determines  its priority 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Arial"/>
              <a:cs typeface="Arial"/>
            </a:endParaRPr>
          </a:p>
          <a:p>
            <a:pPr marL="1200150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the 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the priority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Graphic 3" descr="Marketing with solid fill">
            <a:extLst>
              <a:ext uri="{FF2B5EF4-FFF2-40B4-BE49-F238E27FC236}">
                <a16:creationId xmlns:a16="http://schemas.microsoft.com/office/drawing/2014/main" id="{FF41C67F-8DC8-B513-B6C1-C0EE43B4F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6377" y="35037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2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A10B-AC97-1D91-5A2A-1E9DACEC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DADA-8653-95F3-B49B-08BC9E7C8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338931"/>
            <a:ext cx="9448800" cy="4973637"/>
          </a:xfrm>
        </p:spPr>
        <p:txBody>
          <a:bodyPr>
            <a:normAutofit/>
          </a:bodyPr>
          <a:lstStyle/>
          <a:p>
            <a:pPr algn="l"/>
            <a:br>
              <a:rPr lang="en-AU" b="1" dirty="0"/>
            </a:br>
            <a:br>
              <a:rPr lang="en-AU" b="1" dirty="0"/>
            </a:br>
            <a:endParaRPr lang="en-AU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5284C-213E-415A-9695-4C2E3A372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097" y="1"/>
            <a:ext cx="10926598" cy="68580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200" b="1" dirty="0"/>
              <a:t>Example of Priority</a:t>
            </a:r>
          </a:p>
          <a:p>
            <a:endParaRPr lang="en-US" sz="2200" b="1" dirty="0"/>
          </a:p>
          <a:p>
            <a:r>
              <a:rPr lang="en-US" sz="2200" b="1" dirty="0"/>
              <a:t>Which message will send first????</a:t>
            </a:r>
            <a:endParaRPr lang="en-US" sz="2000" b="1" dirty="0"/>
          </a:p>
          <a:p>
            <a:pPr algn="ctr"/>
            <a:r>
              <a:rPr lang="en-US" sz="2000" b="1" dirty="0"/>
              <a:t> Let’s say we have 2 message </a:t>
            </a:r>
          </a:p>
          <a:p>
            <a:pPr algn="just"/>
            <a:endParaRPr lang="en-US" sz="3200" b="1" dirty="0"/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lvl="2" algn="just"/>
            <a:endParaRPr lang="en-US" dirty="0"/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  <a:p>
            <a:pPr algn="ctr"/>
            <a:r>
              <a:rPr lang="en-US" sz="3200" dirty="0"/>
              <a:t>💡</a:t>
            </a:r>
            <a:r>
              <a:rPr lang="en-US" sz="3200" b="1" dirty="0"/>
              <a:t>Why this matter ??</a:t>
            </a:r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dirty="0">
                <a:ea typeface="+mj-lt"/>
                <a:cs typeface="+mj-lt"/>
              </a:rPr>
              <a:t>ensures that vital functions (engine control, brakes) are always transmitted quickly.</a:t>
            </a:r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dirty="0"/>
              <a:t>Non- critical messages like temperature display or music updates) waits until its turn.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01677B-3897-C1FA-27A3-E3D8F685B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368335"/>
              </p:ext>
            </p:extLst>
          </p:nvPr>
        </p:nvGraphicFramePr>
        <p:xfrm>
          <a:off x="1979406" y="1907336"/>
          <a:ext cx="8993394" cy="1964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8515">
                  <a:extLst>
                    <a:ext uri="{9D8B030D-6E8A-4147-A177-3AD203B41FA5}">
                      <a16:colId xmlns:a16="http://schemas.microsoft.com/office/drawing/2014/main" val="2394654924"/>
                    </a:ext>
                  </a:extLst>
                </a:gridCol>
                <a:gridCol w="2555731">
                  <a:extLst>
                    <a:ext uri="{9D8B030D-6E8A-4147-A177-3AD203B41FA5}">
                      <a16:colId xmlns:a16="http://schemas.microsoft.com/office/drawing/2014/main" val="2678348488"/>
                    </a:ext>
                  </a:extLst>
                </a:gridCol>
                <a:gridCol w="2510794">
                  <a:extLst>
                    <a:ext uri="{9D8B030D-6E8A-4147-A177-3AD203B41FA5}">
                      <a16:colId xmlns:a16="http://schemas.microsoft.com/office/drawing/2014/main" val="4003705720"/>
                    </a:ext>
                  </a:extLst>
                </a:gridCol>
                <a:gridCol w="2218354">
                  <a:extLst>
                    <a:ext uri="{9D8B030D-6E8A-4147-A177-3AD203B41FA5}">
                      <a16:colId xmlns:a16="http://schemas.microsoft.com/office/drawing/2014/main" val="3881311301"/>
                    </a:ext>
                  </a:extLst>
                </a:gridCol>
              </a:tblGrid>
              <a:tr h="490564">
                <a:tc>
                  <a:txBody>
                    <a:bodyPr/>
                    <a:lstStyle/>
                    <a:p>
                      <a:r>
                        <a:rPr lang="en-US" dirty="0"/>
                        <a:t>message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Identifier(Hex)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Priority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554143"/>
                  </a:ext>
                </a:extLst>
              </a:tr>
              <a:tr h="983698">
                <a:tc>
                  <a:txBody>
                    <a:bodyPr/>
                    <a:lstStyle/>
                    <a:p>
                      <a:r>
                        <a:rPr lang="en-US" dirty="0"/>
                        <a:t>Braking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 100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/>
                        <a:t>1 0000 0000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967094"/>
                  </a:ext>
                </a:extLst>
              </a:tr>
              <a:tr h="490564">
                <a:tc>
                  <a:txBody>
                    <a:bodyPr/>
                    <a:lstStyle/>
                    <a:p>
                      <a:r>
                        <a:rPr lang="en-US" dirty="0"/>
                        <a:t>Door lock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 200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0 0000 0000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325790"/>
                  </a:ext>
                </a:extLst>
              </a:tr>
            </a:tbl>
          </a:graphicData>
        </a:graphic>
      </p:graphicFrame>
      <p:pic>
        <p:nvPicPr>
          <p:cNvPr id="5" name="Graphic 4" descr="Arrow: Slight curve with solid fill">
            <a:extLst>
              <a:ext uri="{FF2B5EF4-FFF2-40B4-BE49-F238E27FC236}">
                <a16:creationId xmlns:a16="http://schemas.microsoft.com/office/drawing/2014/main" id="{B6D13FF6-1CB1-03AB-1F86-7F429A55E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32425">
            <a:off x="3769896" y="4327643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BDD396-F6F5-BF1A-929D-5FD0EAED7CBD}"/>
              </a:ext>
            </a:extLst>
          </p:cNvPr>
          <p:cNvSpPr txBox="1"/>
          <p:nvPr/>
        </p:nvSpPr>
        <p:spPr>
          <a:xfrm>
            <a:off x="3048000" y="400996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/>
            <a:r>
              <a:rPr lang="en-US" dirty="0"/>
              <a:t>     As  </a:t>
            </a:r>
            <a:r>
              <a:rPr lang="en-US" b="1" dirty="0"/>
              <a:t>0x100</a:t>
            </a:r>
            <a:r>
              <a:rPr lang="en-US" dirty="0"/>
              <a:t> is numerically smaller then </a:t>
            </a:r>
            <a:r>
              <a:rPr lang="en-US" b="1" dirty="0"/>
              <a:t>0x200</a:t>
            </a:r>
          </a:p>
          <a:p>
            <a:pPr lvl="2" algn="just"/>
            <a:r>
              <a:rPr lang="en-US" b="1" dirty="0"/>
              <a:t>  </a:t>
            </a:r>
            <a:endParaRPr lang="en-US" dirty="0"/>
          </a:p>
          <a:p>
            <a:pPr marL="2114550" lvl="4" indent="-285750" algn="just">
              <a:buFont typeface="Wingdings" pitchFamily="2" charset="2"/>
              <a:buChar char="Ø"/>
            </a:pPr>
            <a:r>
              <a:rPr lang="en-US" dirty="0"/>
              <a:t>Lower ID = HIGHER PRIORITY</a:t>
            </a:r>
          </a:p>
          <a:p>
            <a:pPr marL="2114550" lvl="4" indent="-285750" algn="just">
              <a:buFont typeface="Wingdings" pitchFamily="2" charset="2"/>
              <a:buChar char="Ø"/>
            </a:pPr>
            <a:r>
              <a:rPr lang="en-US" dirty="0"/>
              <a:t> wins the bus access first </a:t>
            </a:r>
          </a:p>
          <a:p>
            <a:pPr lvl="2" algn="just"/>
            <a:endParaRPr lang="en-US" b="1" dirty="0"/>
          </a:p>
        </p:txBody>
      </p:sp>
      <p:pic>
        <p:nvPicPr>
          <p:cNvPr id="6" name="Graphic 5" descr="Pin with solid fill">
            <a:extLst>
              <a:ext uri="{FF2B5EF4-FFF2-40B4-BE49-F238E27FC236}">
                <a16:creationId xmlns:a16="http://schemas.microsoft.com/office/drawing/2014/main" id="{327E4460-7AF3-57AA-0263-5A5E94DF3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4941" y="835775"/>
            <a:ext cx="503156" cy="50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0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F5D6-9284-66D3-9015-F32948643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6D01-BC40-5F7B-24D2-8EBC4229E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338931"/>
            <a:ext cx="9448800" cy="4973637"/>
          </a:xfrm>
        </p:spPr>
        <p:txBody>
          <a:bodyPr>
            <a:normAutofit/>
          </a:bodyPr>
          <a:lstStyle/>
          <a:p>
            <a:pPr algn="l"/>
            <a:br>
              <a:rPr lang="en-AU" b="1" dirty="0"/>
            </a:br>
            <a:br>
              <a:rPr lang="en-AU" b="1" dirty="0"/>
            </a:br>
            <a:endParaRPr lang="en-AU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26A3E-22E6-790D-904F-E0ED7FC32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0"/>
            <a:ext cx="10668000" cy="67773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What is contention??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        KEY POINTS:</a:t>
            </a:r>
          </a:p>
          <a:p>
            <a:pPr marL="914400" lvl="1" indent="-457200" algn="l"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Happens when 2 or more nodes want to transmit (send data) at the same time.</a:t>
            </a:r>
          </a:p>
          <a:p>
            <a:pPr marL="914400" lvl="1" indent="-457200" algn="l"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most networks, it could d causes collision or delay.</a:t>
            </a:r>
          </a:p>
          <a:p>
            <a:pPr marL="914400" lvl="1" indent="-457200" algn="l"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solve this using  bitwise comparison of IDs</a:t>
            </a:r>
          </a:p>
          <a:p>
            <a:pPr marL="914400" lvl="1" indent="-457200" algn="l"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Bits are sent to left to right, one at a time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important Rules:</a:t>
            </a:r>
          </a:p>
          <a:p>
            <a:pPr marL="1371600" lvl="2" indent="-457200" algn="l">
              <a:buFont typeface="Wingdings" pitchFamily="2" charset="2"/>
              <a:buChar char="v"/>
            </a:pPr>
            <a:r>
              <a:rPr lang="en-US" sz="1700" b="1" dirty="0">
                <a:solidFill>
                  <a:schemeClr val="tx1"/>
                </a:solidFill>
              </a:rPr>
              <a:t>In can 0= dominant Bit (WINS).</a:t>
            </a:r>
          </a:p>
          <a:p>
            <a:pPr marL="1371600" lvl="2" indent="-457200" algn="l">
              <a:buFont typeface="Wingdings" pitchFamily="2" charset="2"/>
              <a:buChar char="v"/>
            </a:pPr>
            <a:r>
              <a:rPr lang="en-US" sz="1700" b="1" dirty="0">
                <a:solidFill>
                  <a:schemeClr val="tx1"/>
                </a:solidFill>
              </a:rPr>
              <a:t> 1 = Recessive Bit (Loses) .</a:t>
            </a:r>
          </a:p>
          <a:p>
            <a:pPr marL="1371600" lvl="2" indent="-457200" algn="l">
              <a:buFont typeface="Wingdings" pitchFamily="2" charset="2"/>
              <a:buChar char="v"/>
            </a:pPr>
            <a:r>
              <a:rPr lang="en-US" sz="1700" b="1" dirty="0">
                <a:solidFill>
                  <a:schemeClr val="tx1"/>
                </a:solidFill>
              </a:rPr>
              <a:t>During transmission, each node sends its message ID 1 bit at a time.  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cap="all" dirty="0">
                <a:solidFill>
                  <a:schemeClr val="tx1"/>
                </a:solidFill>
                <a:latin typeface="Century Gothic" panose="020B0502020202020204"/>
              </a:rPr>
              <a:t>How it  works?</a:t>
            </a:r>
            <a:endParaRPr lang="en-US" b="1" noProof="0" dirty="0">
              <a:solidFill>
                <a:schemeClr val="tx1"/>
              </a:solidFill>
            </a:endParaRP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Let’s say , Node A,B are 2 devices . If Node A sends 0 , and Node B sends 1 </a:t>
            </a:r>
          </a:p>
          <a:p>
            <a:pPr marL="1257300" lvl="2" indent="-342900" algn="l">
              <a:buFont typeface="Wingdings" pitchFamily="2" charset="2"/>
              <a:buChar char="v"/>
            </a:pPr>
            <a:r>
              <a:rPr lang="en-US" sz="1700" b="1" dirty="0">
                <a:solidFill>
                  <a:schemeClr val="tx1"/>
                </a:solidFill>
              </a:rPr>
              <a:t>The 0 wins on the bus, and node B  stop transmitting .</a:t>
            </a:r>
          </a:p>
          <a:p>
            <a:pPr marL="1257300" lvl="2" indent="-342900" algn="l">
              <a:buFont typeface="Wingdings" pitchFamily="2" charset="2"/>
              <a:buChar char="v"/>
            </a:pPr>
            <a:r>
              <a:rPr lang="en-US" sz="1700" b="1" dirty="0">
                <a:solidFill>
                  <a:schemeClr val="tx1"/>
                </a:solidFill>
              </a:rPr>
              <a:t>The message with more leading 0s (lower ID) continues, and others need to wait</a:t>
            </a:r>
          </a:p>
        </p:txBody>
      </p:sp>
    </p:spTree>
    <p:extLst>
      <p:ext uri="{BB962C8B-B14F-4D97-AF65-F5344CB8AC3E}">
        <p14:creationId xmlns:p14="http://schemas.microsoft.com/office/powerpoint/2010/main" val="2047463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2DFFA-FD16-CA7F-EF0A-B572F0E9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3157-8E06-5639-7029-5E3EEE335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338931"/>
            <a:ext cx="9448800" cy="4973637"/>
          </a:xfrm>
        </p:spPr>
        <p:txBody>
          <a:bodyPr>
            <a:normAutofit/>
          </a:bodyPr>
          <a:lstStyle/>
          <a:p>
            <a:pPr algn="l"/>
            <a:br>
              <a:rPr lang="en-AU" b="1"/>
            </a:br>
            <a:br>
              <a:rPr lang="en-AU" b="1"/>
            </a:br>
            <a:endParaRPr lang="en-AU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2840C-9B76-F416-0A67-9F187A136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3496" y="0"/>
            <a:ext cx="10438504" cy="6858000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>
                <a:solidFill>
                  <a:schemeClr val="tx1"/>
                </a:solidFill>
              </a:rPr>
              <a:t> Why CAN works so well??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Summery points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CAN priority is based on message ID – lower ID = Higher priority.</a:t>
            </a:r>
          </a:p>
          <a:p>
            <a:pPr marL="1200150" lvl="2" indent="-28575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Contention is resolved automatically  using  the ID bits and the dominant/ recessive rule .</a:t>
            </a:r>
          </a:p>
          <a:p>
            <a:pPr lvl="2" algn="just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benefits :</a:t>
            </a:r>
          </a:p>
          <a:p>
            <a:pPr marL="1200150" lvl="2" indent="-28575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</a:p>
          <a:p>
            <a:pPr marL="1200150" lvl="2" indent="-28575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Collision-free</a:t>
            </a:r>
          </a:p>
          <a:p>
            <a:pPr marL="1200150" lvl="2" indent="-28575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Reliable – especially  in real time systems like modern Cars.</a:t>
            </a:r>
          </a:p>
          <a:p>
            <a:pPr lvl="1"/>
            <a:endParaRPr lang="en-US" sz="2400" b="1" dirty="0">
              <a:solidFill>
                <a:schemeClr val="tx1"/>
              </a:solidFill>
            </a:endParaRPr>
          </a:p>
          <a:p>
            <a:pPr lvl="1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highlight>
                  <a:srgbClr val="008080"/>
                </a:highlight>
              </a:rPr>
              <a:t>This system  makes sure critical message always  pass though first and making CAN  efficient, safe in demanding environment.  </a:t>
            </a:r>
          </a:p>
        </p:txBody>
      </p:sp>
      <p:pic>
        <p:nvPicPr>
          <p:cNvPr id="8" name="Graphic 7" descr="Classroom with solid fill">
            <a:extLst>
              <a:ext uri="{FF2B5EF4-FFF2-40B4-BE49-F238E27FC236}">
                <a16:creationId xmlns:a16="http://schemas.microsoft.com/office/drawing/2014/main" id="{08BB62B9-876C-CEAF-16C8-D556E447D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" y="-1"/>
            <a:ext cx="1816249" cy="167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85D01-0BE1-9BF9-F226-C28969CFA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ACA3-4574-7C4D-C1B4-67A921DA5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338931"/>
            <a:ext cx="9448800" cy="4973637"/>
          </a:xfrm>
        </p:spPr>
        <p:txBody>
          <a:bodyPr>
            <a:normAutofit/>
          </a:bodyPr>
          <a:lstStyle/>
          <a:p>
            <a:pPr algn="l"/>
            <a:br>
              <a:rPr lang="en-AU" b="1"/>
            </a:br>
            <a:br>
              <a:rPr lang="en-AU" b="1"/>
            </a:br>
            <a:endParaRPr lang="en-AU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70245-2E81-52A0-594C-47058FBEE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7304" y="3016953"/>
            <a:ext cx="3765176" cy="80879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4400" b="1" dirty="0">
                <a:latin typeface="Arial"/>
                <a:cs typeface="Arial"/>
              </a:rPr>
              <a:t>THANK YOU</a:t>
            </a:r>
            <a:endParaRPr lang="en-US" sz="4800" b="1" dirty="0"/>
          </a:p>
          <a:p>
            <a:pPr marL="914400" lvl="1" indent="-457200" algn="just">
              <a:buFont typeface="Wingdings" pitchFamily="2" charset="2"/>
              <a:buChar char="Ø"/>
            </a:pPr>
            <a:endParaRPr lang="en-US" sz="3000" b="1" dirty="0"/>
          </a:p>
          <a:p>
            <a:pPr marL="914400" lvl="1" indent="-457200" algn="just">
              <a:buFont typeface="Wingdings" pitchFamily="2" charset="2"/>
              <a:buChar char="Ø"/>
            </a:pPr>
            <a:endParaRPr lang="en-US" sz="3000" b="1" dirty="0"/>
          </a:p>
          <a:p>
            <a:pPr algn="just"/>
            <a:endParaRPr lang="en-US" sz="3200" b="1" dirty="0"/>
          </a:p>
        </p:txBody>
      </p:sp>
      <p:pic>
        <p:nvPicPr>
          <p:cNvPr id="5" name="Graphic 4" descr="A wreath with olives and leaves">
            <a:extLst>
              <a:ext uri="{FF2B5EF4-FFF2-40B4-BE49-F238E27FC236}">
                <a16:creationId xmlns:a16="http://schemas.microsoft.com/office/drawing/2014/main" id="{F0A95548-41CC-BED1-7824-24598D092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1073" y="0"/>
            <a:ext cx="92838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4557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343</TotalTime>
  <Words>475</Words>
  <Application>Microsoft Office PowerPoint</Application>
  <PresentationFormat>Widescreen</PresentationFormat>
  <Paragraphs>106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ADLaM Display</vt:lpstr>
      <vt:lpstr>Aptos</vt:lpstr>
      <vt:lpstr>Aptos Display</vt:lpstr>
      <vt:lpstr>Arial</vt:lpstr>
      <vt:lpstr>Century Gothic</vt:lpstr>
      <vt:lpstr>Wingdings</vt:lpstr>
      <vt:lpstr>Wingdings 3</vt:lpstr>
      <vt:lpstr>Wisp</vt:lpstr>
      <vt:lpstr>Controller Area Network </vt:lpstr>
      <vt:lpstr>CAN  key Aspects   </vt:lpstr>
      <vt:lpstr>  </vt:lpstr>
      <vt:lpstr>  </vt:lpstr>
      <vt:lpstr>  </vt:lpstr>
      <vt:lpstr>  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Dhrubo Troyee</dc:creator>
  <cp:lastModifiedBy>Dhrubo Troyee</cp:lastModifiedBy>
  <cp:revision>14</cp:revision>
  <dcterms:created xsi:type="dcterms:W3CDTF">2025-05-08T00:12:00Z</dcterms:created>
  <dcterms:modified xsi:type="dcterms:W3CDTF">2025-05-08T16:10:38Z</dcterms:modified>
</cp:coreProperties>
</file>